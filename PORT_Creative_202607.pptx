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ADEA03-3656-4C9D-8DFB-590A2CAE0677}">
  <a:tblStyle styleId="{3CADEA03-3656-4C9D-8DFB-590A2CAE06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11" Type="http://schemas.openxmlformats.org/officeDocument/2006/relationships/image" Target="../media/image29.png"/><Relationship Id="rId10" Type="http://schemas.openxmlformats.org/officeDocument/2006/relationships/image" Target="../media/image25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Relationship Id="rId8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qV5qychmKTjVmfgSX26Xe-delG5enxhT/view" TargetMode="External"/><Relationship Id="rId4" Type="http://schemas.openxmlformats.org/officeDocument/2006/relationships/image" Target="../media/image30.jpg"/><Relationship Id="rId10" Type="http://schemas.openxmlformats.org/officeDocument/2006/relationships/image" Target="../media/image20.jpg"/><Relationship Id="rId9" Type="http://schemas.openxmlformats.org/officeDocument/2006/relationships/hyperlink" Target="http://drive.google.com/file/d/1ziUbl7rT8xRN42DoyAGMaTVqicgftHv7/view" TargetMode="External"/><Relationship Id="rId5" Type="http://schemas.openxmlformats.org/officeDocument/2006/relationships/hyperlink" Target="http://drive.google.com/file/d/14TVuykdZK79w1QSJW8DVq7Nvoqh-1Z74/view" TargetMode="External"/><Relationship Id="rId6" Type="http://schemas.openxmlformats.org/officeDocument/2006/relationships/image" Target="../media/image32.jpg"/><Relationship Id="rId7" Type="http://schemas.openxmlformats.org/officeDocument/2006/relationships/hyperlink" Target="http://drive.google.com/file/d/1qiN5JR1V60npOY-T-mHwamx5jhAGDa8s/view" TargetMode="External"/><Relationship Id="rId8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6D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818120" y="25603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769096" y="25603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9720072" y="25603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0671048" y="25603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7818120" y="1280160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769096" y="1280160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720072" y="1280160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671048" y="1280160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818120" y="2304288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769096" y="2304288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720072" y="2304288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671048" y="2304288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818120" y="3328416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769096" y="3328416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720072" y="3328416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671048" y="3328416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818120" y="4352544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769096" y="4352544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720072" y="4352544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671048" y="4352544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818120" y="537667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769096" y="537667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720072" y="537667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671048" y="5376672"/>
            <a:ext cx="841248" cy="932688"/>
          </a:xfrm>
          <a:prstGeom prst="roundRect">
            <a:avLst>
              <a:gd fmla="val 6522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196596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76656" y="306324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ナノ/マイクロインフルエンサー × 生成AI による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タテ型ショート動画クリエイティブ量産パッケージ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76656" y="41148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UUUMマーケティング株式会社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_white.png" id="39" name="Google Shape;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989320"/>
            <a:ext cx="1280160" cy="61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6D9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r>
              <a:rPr b="1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の全体感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76656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インフルエンサーが撮影し、AIが量産する。新しい広告クリエイティブの形。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_white.png" id="48" name="Google Shape;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274320"/>
            <a:ext cx="932688" cy="44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とは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数万規模のクリエイターネットワークとAIを掛け合わせ、タテ型ショート動画クリエイティブを“大量・短納期”で生み出すパッケージです。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.png"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201168"/>
            <a:ext cx="932688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1051560" y="2926080"/>
            <a:ext cx="2286000" cy="2286000"/>
          </a:xfrm>
          <a:prstGeom prst="ellipse">
            <a:avLst/>
          </a:prstGeom>
          <a:solidFill>
            <a:srgbClr val="0196D9"/>
          </a:solidFill>
          <a:ln>
            <a:noFill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robot_white.png" id="59" name="Google Shape;59;p5"/>
          <p:cNvPicPr preferRelativeResize="0"/>
          <p:nvPr/>
        </p:nvPicPr>
        <p:blipFill rotWithShape="1">
          <a:blip r:embed="rId4">
            <a:alphaModFix amt="0"/>
          </a:blip>
          <a:srcRect b="0" l="0" r="0" t="0"/>
          <a:stretch/>
        </p:blipFill>
        <p:spPr>
          <a:xfrm>
            <a:off x="914400" y="0"/>
            <a:ext cx="9144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ssets/c_users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5598" y="2910350"/>
            <a:ext cx="1457925" cy="14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051560" y="4114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クリエイター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051560" y="44348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4F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AF4FB"/>
                </a:solidFill>
                <a:latin typeface="Arial"/>
                <a:ea typeface="Arial"/>
                <a:cs typeface="Arial"/>
                <a:sym typeface="Arial"/>
              </a:rPr>
              <a:t>ナノ/マイクロ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4F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AF4FB"/>
                </a:solidFill>
                <a:latin typeface="Arial"/>
                <a:ea typeface="Arial"/>
                <a:cs typeface="Arial"/>
                <a:sym typeface="Arial"/>
              </a:rPr>
              <a:t>インフルエンサー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429000" y="3474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43400" y="2926080"/>
            <a:ext cx="2286000" cy="2286000"/>
          </a:xfrm>
          <a:prstGeom prst="ellipse">
            <a:avLst/>
          </a:prstGeom>
          <a:solidFill>
            <a:srgbClr val="212745"/>
          </a:solidFill>
          <a:ln>
            <a:noFill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robot_white.png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322783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4343400" y="4114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生成AI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43400" y="44348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4F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AF4FB"/>
                </a:solidFill>
                <a:latin typeface="Arial"/>
                <a:ea typeface="Arial"/>
                <a:cs typeface="Arial"/>
                <a:sym typeface="Arial"/>
              </a:rPr>
              <a:t>自動編集・組合せ・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4F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AF4FB"/>
                </a:solidFill>
                <a:latin typeface="Arial"/>
                <a:ea typeface="Arial"/>
                <a:cs typeface="Arial"/>
                <a:sym typeface="Arial"/>
              </a:rPr>
              <a:t>AIナレーション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720840" y="3474720"/>
            <a:ext cx="731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543800" y="2926080"/>
            <a:ext cx="3520440" cy="2286000"/>
          </a:xfrm>
          <a:prstGeom prst="roundRect">
            <a:avLst>
              <a:gd fmla="val 4800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infinity.png"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0" y="3241548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8823960" y="333756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b="1" lang="en-US" sz="20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 パターン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869680" y="4012547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ショート動画を一括生成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863840" y="459943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最短数日 / 低コストで量産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75488" y="5861304"/>
            <a:ext cx="11274552" cy="868680"/>
          </a:xfrm>
          <a:prstGeom prst="roundRect">
            <a:avLst>
              <a:gd fmla="val 10526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58368" y="5861304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「人がゼロから作る」を、「撮影だけ人・編集はAI」に。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クリエイティブ供給のボトルネックを根本から解消します。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58000" y="1533061"/>
            <a:ext cx="10709527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“広告費用をUUUMマーケティングへ200万円ご発注で全て無償”</a:t>
            </a:r>
            <a:endParaRPr sz="2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UGCクリエイティブの期待効果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UGC素材は通常素材より高い効果を発揮する一方、“枯渇（飽き）”が速いという特性があります。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1554480"/>
            <a:ext cx="5669280" cy="914400"/>
          </a:xfrm>
          <a:prstGeom prst="roundRect">
            <a:avLst>
              <a:gd fmla="val 10000" name="adj"/>
            </a:avLst>
          </a:prstGeom>
          <a:solidFill>
            <a:srgbClr val="EAF4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chart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556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463040" y="162763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通常素材比 </a:t>
            </a:r>
            <a:r>
              <a:rPr b="1" lang="en-US" sz="26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3〜6倍</a:t>
            </a: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 の効果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463040" y="205740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生活者目線のUGCは“自分ごと化”されやすく、視聴完了率・CTR・CVRが高い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260604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視聴完了率の推移イメージ（縦軸：視聴完了率／横軸：配信からの時間）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926080"/>
            <a:ext cx="58521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868680" y="463015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UGCは“高く始まる”が、急速に視聴完了率が落ちる＝枯渇が速い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583680" y="15087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だからこそUGCには“量”が要る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583680" y="1920240"/>
            <a:ext cx="5120640" cy="1143000"/>
          </a:xfrm>
          <a:prstGeom prst="roundRect">
            <a:avLst>
              <a:gd fmla="val 9600" name="adj"/>
            </a:avLst>
          </a:prstGeom>
          <a:solidFill>
            <a:srgbClr val="FBEDED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hourglass_red.png" id="95" name="Google Shape;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280" y="228600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7498080" y="2048256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01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枯渇スピードが通常素材の </a:t>
            </a:r>
            <a:r>
              <a:rPr b="1" lang="en-US" sz="160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約3倍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498080" y="2395728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同じ素材を流し続けるとすぐ飽きられ、視聴完了率もCVRも急落。本数がないとすぐ枯渇します。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583680" y="3200400"/>
            <a:ext cx="5120640" cy="1371600"/>
          </a:xfrm>
          <a:prstGeom prst="roundRect">
            <a:avLst>
              <a:gd fmla="val 8000" name="adj"/>
            </a:avLst>
          </a:prstGeom>
          <a:solidFill>
            <a:srgbClr val="FBEDED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neybag_red.png" id="99" name="Google Shape;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370332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7498080" y="3328416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01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追加制作はコストも時間もかかる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498080" y="37033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1本あたり </a:t>
            </a:r>
            <a:r>
              <a:rPr b="1" lang="en-US" sz="12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6〜10万円</a:t>
            </a: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  /  納期 </a:t>
            </a:r>
            <a:r>
              <a:rPr b="1" lang="en-US" sz="12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約3週間〜1ヶ月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498080" y="40690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追加制作のリードタイムが、広告配信の改善サイクルに追いつかない（アンマッチ）。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583680" y="4709160"/>
            <a:ext cx="5120640" cy="640080"/>
          </a:xfrm>
          <a:prstGeom prst="roundRect">
            <a:avLst>
              <a:gd fmla="val 11429" name="adj"/>
            </a:avLst>
          </a:prstGeom>
          <a:solidFill>
            <a:srgbClr val="EAF4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812280" y="470916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→ 「効果は高いが、すぐ使えなくなる」。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　　この矛盾を量産で解く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57200" y="5532120"/>
            <a:ext cx="11274552" cy="804672"/>
          </a:xfrm>
          <a:prstGeom prst="roundRect">
            <a:avLst>
              <a:gd fmla="val 11364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5532120"/>
            <a:ext cx="10881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UGCは“当たれば強いが、すぐ枯れる”。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改善サイクルを止めないには、低コストで素材を供給し続ける仕組みが不可欠です。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※効果倍率・制作費・納期はUUUMマーケティング社内実績に基づく値です。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6D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r>
              <a:rPr b="1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の価値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76656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広告主が直面する「クリエイティブの3大課題」に、どう応えるのか。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_white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274320"/>
            <a:ext cx="932688" cy="44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広告主の課題と、</a:t>
            </a: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の解決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運用型広告の成否はクリエイティブ量産力で決まる時代。よくある3つの課題に応えます。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75488" y="149047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01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広告主のよくある課題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400800" y="14813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PORT Creativeの提供する価値</a:t>
            </a:r>
            <a:endParaRPr sz="14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7200" y="1938528"/>
            <a:ext cx="5394960" cy="1298448"/>
          </a:xfrm>
          <a:prstGeom prst="roundRect">
            <a:avLst>
              <a:gd fmla="val 8451" name="adj"/>
            </a:avLst>
          </a:prstGeom>
          <a:solidFill>
            <a:srgbClr val="FBEDED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hourglass_red.png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233172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/>
          <p:nvPr/>
        </p:nvSpPr>
        <p:spPr>
          <a:xfrm>
            <a:off x="1325880" y="206654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0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クリエイティブが枯渇する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325880" y="2414016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媒体AIの最適化で差別化はクリエイティブのみ。常に数十本のバリエーションが要るが、作り続けられない。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943600" y="2386584"/>
            <a:ext cx="384048" cy="402336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00800" y="1938528"/>
            <a:ext cx="5330952" cy="1298448"/>
          </a:xfrm>
          <a:prstGeom prst="roundRect">
            <a:avLst>
              <a:gd fmla="val 8451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layer.png"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968" y="233172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7269480" y="20665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AIで一度に数十本を量産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269480" y="2414016"/>
            <a:ext cx="4343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1回の撮影素材から、AIが組合せ＋ナレーションを自動付与し数十パターンを生成。供給が枯れない。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3364992"/>
            <a:ext cx="5394960" cy="1298448"/>
          </a:xfrm>
          <a:prstGeom prst="roundRect">
            <a:avLst>
              <a:gd fmla="val 8451" name="adj"/>
            </a:avLst>
          </a:prstGeom>
          <a:solidFill>
            <a:srgbClr val="FBEDED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neybag_red.png" id="138" name="Google Shape;13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75818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1325880" y="349300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0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制作費が高く、納期も長い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325880" y="3840480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動画1本20〜50万円・納期3週間〜1ヶ月が相場。本数を増やすほどコストと時間が膨らむ。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943600" y="3813048"/>
            <a:ext cx="384048" cy="402336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400800" y="3364992"/>
            <a:ext cx="5330952" cy="1298448"/>
          </a:xfrm>
          <a:prstGeom prst="roundRect">
            <a:avLst>
              <a:gd fmla="val 8451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bolt.png" id="143" name="Google Shape;14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1968" y="3758184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7269480" y="34930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撮影だけ人・編集はAIで圧縮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269480" y="3840480"/>
            <a:ext cx="4343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インフルエンサーは撮影のみ。編集工程をAIが代替し、制作コストとリードタイムを大幅に削減。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4791456"/>
            <a:ext cx="5394960" cy="1298448"/>
          </a:xfrm>
          <a:prstGeom prst="roundRect">
            <a:avLst>
              <a:gd fmla="val 8451" name="adj"/>
            </a:avLst>
          </a:prstGeom>
          <a:solidFill>
            <a:srgbClr val="FBEDED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exclaim_red.png" id="147" name="Google Shape;14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51846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1325880" y="491947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0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50012"/>
                </a:solidFill>
                <a:latin typeface="Arial"/>
                <a:ea typeface="Arial"/>
                <a:cs typeface="Arial"/>
                <a:sym typeface="Arial"/>
              </a:rPr>
              <a:t>“広告くさく”てスキップされる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325880" y="5266944"/>
            <a:ext cx="4434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作り込んだ広告ほど見られない。タテ型ショートでは生活者目線のUGCでないと最後まで見られない。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943600" y="5239512"/>
            <a:ext cx="384048" cy="402336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400800" y="4791456"/>
            <a:ext cx="5330952" cy="1298448"/>
          </a:xfrm>
          <a:prstGeom prst="roundRect">
            <a:avLst>
              <a:gd fmla="val 8451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chart.png" id="152" name="Google Shape;15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1968" y="51846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7269480" y="49194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UGCネイティブな素材で勝つ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269480" y="5266944"/>
            <a:ext cx="4343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数万規模のクリエイターによる自撮り素材だから、自然な“見られる広告”に。勝ちパターンのデータも蓄積。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なぜ </a:t>
            </a: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は量産できるのか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「企画は当社・撮影はクリエイター・編集はAI」。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各工程を最も得意な担い手に分けることで、品質を保ちながら量産します。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49428" y="2058289"/>
            <a:ext cx="3429000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871320" y="1765681"/>
            <a:ext cx="585216" cy="585216"/>
          </a:xfrm>
          <a:prstGeom prst="ellipse">
            <a:avLst/>
          </a:prstGeom>
          <a:solidFill>
            <a:srgbClr val="21274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871320" y="1765681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pen.png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6728" y="246976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449428" y="3475609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企画・台本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05460" y="3887089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各SNSの“勝ちパターン”を踏まえ訴求台本と構成を設計。薬機法・景表法チェックまでワンストップ。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915004" y="3233293"/>
            <a:ext cx="420624" cy="438912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381348" y="2058289"/>
            <a:ext cx="3429000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803240" y="1765681"/>
            <a:ext cx="585216" cy="585216"/>
          </a:xfrm>
          <a:prstGeom prst="ellipse">
            <a:avLst/>
          </a:prstGeom>
          <a:solidFill>
            <a:srgbClr val="21274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803240" y="1765681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mobile.png"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648" y="246976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4381348" y="3475609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撮影のみ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637380" y="3887089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クリエイターは台本どおりスマホで“撮影だけ”。編集はさせず工数とリードタイムを極小化。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846924" y="3233293"/>
            <a:ext cx="420624" cy="438912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313268" y="2058289"/>
            <a:ext cx="3429000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9735160" y="1765681"/>
            <a:ext cx="585216" cy="585216"/>
          </a:xfrm>
          <a:prstGeom prst="ellipse">
            <a:avLst/>
          </a:prstGeom>
          <a:solidFill>
            <a:srgbClr val="21274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9735160" y="1765681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magic.png" id="181" name="Google Shape;18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0568" y="246976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8313268" y="3475609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AIで自動量産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569300" y="3887089"/>
            <a:ext cx="291693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素材をインポート。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組合せ・編集・AIナレーションを自動付与し</a:t>
            </a:r>
            <a:endParaRPr sz="1050">
              <a:solidFill>
                <a:srgbClr val="4F575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数十本を生成。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8572" y="5167249"/>
            <a:ext cx="5486400" cy="914400"/>
          </a:xfrm>
          <a:prstGeom prst="roundRect">
            <a:avLst>
              <a:gd fmla="val 12000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shield.png" id="185" name="Google Shape;18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604" y="5331841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446124" y="5286121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薬機法・景表法チェックまでワンストップ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446124" y="5624449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企画段階で当社の専門チームが法令チェック。広告主様の確認負荷と炎上リスクを最小化します。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246724" y="5167249"/>
            <a:ext cx="5486400" cy="914400"/>
          </a:xfrm>
          <a:prstGeom prst="roundRect">
            <a:avLst>
              <a:gd fmla="val 12000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chart.png" id="189" name="Google Shape;18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2756" y="5331841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7234276" y="5286121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各SNSの“勝ちパターン”を踏襲した構成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234276" y="5624449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TikTok・Instagramで蓄積したタテ型ショートCRの勝ち筋を、台本・構成設計にそのまま反映します。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6D9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 Creativeサービス内容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76656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ご発注から納品までの流れと、対象プラットフォーム。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_white.png"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274320"/>
            <a:ext cx="932688" cy="44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PORT Creative：ご提供フロー</a:t>
            </a:r>
            <a:endParaRPr b="1" sz="24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63144" y="1691640"/>
            <a:ext cx="2121408" cy="269748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file.png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800" y="1947672"/>
            <a:ext cx="768096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554584" y="2788920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① 企画・台本設計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27736" y="3319272"/>
            <a:ext cx="17922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オリエンをもとに、パート別の訴求台本・構成・レギュレーションを当社が作成。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2749144" y="1691640"/>
            <a:ext cx="2121408" cy="2697480"/>
          </a:xfrm>
          <a:prstGeom prst="roundRect">
            <a:avLst>
              <a:gd fmla="val 5172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search.png" id="214" name="Google Shape;2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5800" y="1947672"/>
            <a:ext cx="768096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2840584" y="2788920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② クリエイター募集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2913736" y="3319272"/>
            <a:ext cx="17922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条件に合うクリエイターをネットワークから公募・選定。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035144" y="1691640"/>
            <a:ext cx="2121408" cy="269748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mobile.png" id="218" name="Google Shape;2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1800" y="1947672"/>
            <a:ext cx="768096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5126584" y="2788920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③ 撮影（自撮り）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199736" y="3319272"/>
            <a:ext cx="17922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台本どおりに撮影のみ実施。編集はさせずリードタイムを短縮。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7321144" y="1691640"/>
            <a:ext cx="2121408" cy="2697480"/>
          </a:xfrm>
          <a:prstGeom prst="roundRect">
            <a:avLst>
              <a:gd fmla="val 5172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magic.png" id="222" name="Google Shape;2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97800" y="1947672"/>
            <a:ext cx="768096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/>
          <p:nvPr/>
        </p:nvSpPr>
        <p:spPr>
          <a:xfrm>
            <a:off x="7412584" y="2788920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④ AI自動生成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485736" y="3319272"/>
            <a:ext cx="17922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組合せ・編集・AIナレーションを自動付与し量産。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9607144" y="1691640"/>
            <a:ext cx="2121408" cy="269748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shield.png" id="226" name="Google Shape;22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3800" y="1947672"/>
            <a:ext cx="768096" cy="76809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/>
          <p:nvPr/>
        </p:nvSpPr>
        <p:spPr>
          <a:xfrm>
            <a:off x="9698584" y="2788920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⑤ チェック・納品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9771736" y="3319272"/>
            <a:ext cx="17922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コンプラ/薬機チェックを経て、媒体別フォーマットで納品。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7200" y="4663440"/>
            <a:ext cx="11274552" cy="777240"/>
          </a:xfrm>
          <a:prstGeom prst="roundRect">
            <a:avLst>
              <a:gd fmla="val 11765" name="adj"/>
            </a:avLst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77240" y="46634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対象プラットフォーム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tiktok2.png" id="231" name="Google Shape;23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6427" y="4846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/>
          <p:nvPr/>
        </p:nvSpPr>
        <p:spPr>
          <a:xfrm>
            <a:off x="4209347" y="46634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TikTok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nstagram2.png" id="233" name="Google Shape;23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40680" y="4857683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5940400" y="486722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0114684" y="509320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タテ型動画 / リール / feed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fmla="val 11364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cog.png" id="237" name="Google Shape;23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3232" y="573328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1371600" y="5577840"/>
            <a:ext cx="10241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第三者配信もおまかせ：</a:t>
            </a:r>
            <a:r>
              <a:rPr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広告主様専用に個別作成したSNSアカウントを当社が準備し、そのまま広告配信まで実施できます。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2538832" y="2857500"/>
            <a:ext cx="310896" cy="365760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824832" y="2857500"/>
            <a:ext cx="310896" cy="365760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110832" y="2857500"/>
            <a:ext cx="310896" cy="365760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9396832" y="2857500"/>
            <a:ext cx="310896" cy="365760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64142" y="4855549"/>
            <a:ext cx="316527" cy="39302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7778344" y="486722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Shorts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オリエンから納品まで一気通貫。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クリエイティブの企画・撮影・AI生成・チェックまで当社が伴走します。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0" y="-18063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ご提供物：勝ちパターンを“構造”で量産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18パターンは闇雲な量産ではありません。4つのモジュールの組合せで、当たり要素を特定できるA/Bテスト設計です。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40080" y="1874520"/>
            <a:ext cx="2240280" cy="384048"/>
          </a:xfrm>
          <a:prstGeom prst="roundRect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187452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0秒アテンション（3）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822960" y="2423160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22960" y="2423160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案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22960" y="3264408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22960" y="3264408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案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822960" y="4105656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22960" y="4105656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案 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2834640" y="310896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3017520" y="1874520"/>
            <a:ext cx="2240280" cy="384048"/>
          </a:xfrm>
          <a:prstGeom prst="roundRect">
            <a:avLst>
              <a:gd fmla="val 50000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3017520" y="187452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問題提起（3）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200400" y="2423160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200400" y="2423160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案 A</a:t>
            </a:r>
            <a:endParaRPr sz="14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3200400" y="3264408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3200400" y="3264408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案 B</a:t>
            </a:r>
            <a:endParaRPr sz="14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200400" y="4105656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3200400" y="4105656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案 C</a:t>
            </a:r>
            <a:endParaRPr sz="14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212080" y="310896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394960" y="1874520"/>
            <a:ext cx="2240280" cy="384048"/>
          </a:xfrm>
          <a:prstGeom prst="roundRect">
            <a:avLst>
              <a:gd fmla="val 50000" name="adj"/>
            </a:avLst>
          </a:prstGeom>
          <a:solidFill>
            <a:srgbClr val="2127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394960" y="187452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訴求（2）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577840" y="2423160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577840" y="2423160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案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577840" y="3264408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577840" y="3264408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案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7589520" y="310896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772400" y="1874520"/>
            <a:ext cx="2240280" cy="384048"/>
          </a:xfrm>
          <a:prstGeom prst="roundRect">
            <a:avLst>
              <a:gd fmla="val 50000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772400" y="187452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CTA（1）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7955280" y="2423160"/>
            <a:ext cx="1874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7955280" y="2423160"/>
            <a:ext cx="1874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案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10149840" y="1920240"/>
            <a:ext cx="1783080" cy="3246120"/>
          </a:xfrm>
          <a:prstGeom prst="roundRect">
            <a:avLst>
              <a:gd fmla="val 6154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0149840" y="2377440"/>
            <a:ext cx="1783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3×3×2×1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600"/>
              <a:buFont typeface="Arial"/>
              <a:buNone/>
            </a:pPr>
            <a:r>
              <a:rPr b="1" lang="en-US" sz="4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パターン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57200" y="5440680"/>
            <a:ext cx="11274552" cy="841248"/>
          </a:xfrm>
          <a:prstGeom prst="roundRect">
            <a:avLst>
              <a:gd fmla="val 1087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40080" y="5440680"/>
            <a:ext cx="108813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配信結果をパート単位で分析できるため、「どの入りが効くか」が分かる。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単なる納品物ではなく、CPA改善のための“実験装置”です。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なぜ同じ素材で“構成順”を変えるのか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タテ型ショートの2大勝ち要素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48640" y="1920240"/>
            <a:ext cx="5120640" cy="1298448"/>
          </a:xfrm>
          <a:prstGeom prst="roundRect">
            <a:avLst>
              <a:gd fmla="val 8451" name="adj"/>
            </a:avLst>
          </a:prstGeom>
          <a:solidFill>
            <a:srgbClr val="FFF1E6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attn.png" id="298" name="Google Shape;2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286000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3"/>
          <p:cNvSpPr/>
          <p:nvPr/>
        </p:nvSpPr>
        <p:spPr>
          <a:xfrm>
            <a:off x="1508760" y="206654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0秒アテンション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1508760" y="2414016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冒頭で“即離脱”をいかに抑えるか。最初の1秒で視聴を掴めるか否かが完全視聴率を左右する。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3337560"/>
            <a:ext cx="5120640" cy="1298448"/>
          </a:xfrm>
          <a:prstGeom prst="roundRect">
            <a:avLst>
              <a:gd fmla="val 8451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empathy.png" id="302" name="Google Shape;3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703320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/>
          <p:nvPr/>
        </p:nvSpPr>
        <p:spPr>
          <a:xfrm>
            <a:off x="1508760" y="348386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共感訴求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508760" y="3831336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「確かに」「ちょっと気になる」を生むメッセージング。自分ごと化が態度変容とクリックを生む。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48640" y="484632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→ この2要素の組合せ・順序を変えた複数パターンを自動生成し、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　 最も高い効果を叩き出す構成を特定します。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6035040" y="150876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74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同じ素材 × 構成順だけ変更 → 成果に差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035040" y="22860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構成A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attention.png" id="308" name="Google Shape;30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1965960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/>
          <p:nvPr/>
        </p:nvSpPr>
        <p:spPr>
          <a:xfrm>
            <a:off x="7552944" y="2235708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empathy.png" id="310" name="Google Shape;31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960" y="1965960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3"/>
          <p:cNvSpPr/>
          <p:nvPr/>
        </p:nvSpPr>
        <p:spPr>
          <a:xfrm>
            <a:off x="8375904" y="2235708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problem.png" id="312" name="Google Shape;31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3920" y="1965960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/>
          <p:nvPr/>
        </p:nvSpPr>
        <p:spPr>
          <a:xfrm>
            <a:off x="9198864" y="2235708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cta.png" id="314" name="Google Shape;31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880" y="1965960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3"/>
          <p:cNvSpPr/>
          <p:nvPr/>
        </p:nvSpPr>
        <p:spPr>
          <a:xfrm>
            <a:off x="10241280" y="1965960"/>
            <a:ext cx="1463040" cy="384048"/>
          </a:xfrm>
          <a:prstGeom prst="roundRect">
            <a:avLst>
              <a:gd fmla="val 19048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0241280" y="19659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完全視聴率 52%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0241280" y="2423160"/>
            <a:ext cx="1463040" cy="384048"/>
          </a:xfrm>
          <a:prstGeom prst="roundRect">
            <a:avLst>
              <a:gd fmla="val 19048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0241280" y="24231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CTR 3.1%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0241280" y="2880360"/>
            <a:ext cx="1463040" cy="384048"/>
          </a:xfrm>
          <a:prstGeom prst="roundRect">
            <a:avLst>
              <a:gd fmla="val 19048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0241280" y="28803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CVR 1.8%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035040" y="386791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構成B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problem.png" id="322" name="Google Shape;32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3547872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3"/>
          <p:cNvSpPr/>
          <p:nvPr/>
        </p:nvSpPr>
        <p:spPr>
          <a:xfrm>
            <a:off x="7552944" y="381762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attention.png" id="324" name="Google Shape;32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960" y="3547872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8375904" y="381762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cta.png" id="326" name="Google Shape;32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3920" y="3547872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9198864" y="3817620"/>
            <a:ext cx="146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t_empathy.png" id="328" name="Google Shape;32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0" y="3547872"/>
            <a:ext cx="713232" cy="99669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/>
          <p:nvPr/>
        </p:nvSpPr>
        <p:spPr>
          <a:xfrm>
            <a:off x="10241280" y="3547872"/>
            <a:ext cx="1463040" cy="384048"/>
          </a:xfrm>
          <a:prstGeom prst="roundRect">
            <a:avLst>
              <a:gd fmla="val 19048" name="adj"/>
            </a:avLst>
          </a:prstGeom>
          <a:solidFill>
            <a:srgbClr val="EDF1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0241280" y="35478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完全視聴率 28%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0241280" y="4005072"/>
            <a:ext cx="1463040" cy="384048"/>
          </a:xfrm>
          <a:prstGeom prst="roundRect">
            <a:avLst>
              <a:gd fmla="val 19048" name="adj"/>
            </a:avLst>
          </a:prstGeom>
          <a:solidFill>
            <a:srgbClr val="EDF1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0241280" y="40050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CTR 1.2%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0241280" y="4462272"/>
            <a:ext cx="1463040" cy="384048"/>
          </a:xfrm>
          <a:prstGeom prst="roundRect">
            <a:avLst>
              <a:gd fmla="val 19048" name="adj"/>
            </a:avLst>
          </a:prstGeom>
          <a:solidFill>
            <a:srgbClr val="EDF1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0241280" y="4462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CVR 0.7%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57200" y="5532120"/>
            <a:ext cx="11274552" cy="804672"/>
          </a:xfrm>
          <a:prstGeom prst="roundRect">
            <a:avLst>
              <a:gd fmla="val 11364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40080" y="5532120"/>
            <a:ext cx="10881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素材は同じでも“並び順”で完全視聴率・CTR・CVRは大きく変わる。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だから複数構成を一気に試し、勝ち順序をデータで掴むことに価値があります。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タテ型ショート動画の勝敗は2つの要素で決まります。同じ素材でも並び順を変えるだけで、成果は大きく変わります。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CRサンプル</a:t>
            </a:r>
            <a:endParaRPr b="1" sz="2400">
              <a:solidFill>
                <a:srgbClr val="2F55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376824" y="1463040"/>
            <a:ext cx="233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美容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3415569" y="1463040"/>
            <a:ext cx="233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ガジェット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6495416" y="1463040"/>
            <a:ext cx="233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家電</a:t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9483359" y="1463040"/>
            <a:ext cx="2331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飲料</a:t>
            </a:r>
            <a:endParaRPr/>
          </a:p>
        </p:txBody>
      </p:sp>
      <p:pic>
        <p:nvPicPr>
          <p:cNvPr id="350" name="Google Shape;350;p14" title="canonカメラ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826" y="1840825"/>
            <a:ext cx="2634800" cy="4684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4" title="ダルバミスト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725" y="1840837"/>
            <a:ext cx="2634800" cy="468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4" title="リファ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3926" y="1840813"/>
            <a:ext cx="2634800" cy="468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4" title="美酢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31863" y="1840825"/>
            <a:ext cx="2634800" cy="4684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6D9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>
            <a:off x="640080" y="1920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なぜ UUUMマーケティングなのか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676656" y="4160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3つの独自アセットが揃うからこそ、このパッケージは当社にしか提供できません。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_white.png" id="362" name="Google Shape;3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274320"/>
            <a:ext cx="932688" cy="44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PORT Creativeを支える3つの独自アセット</a:t>
            </a:r>
            <a:endParaRPr sz="2400">
              <a:solidFill>
                <a:srgbClr val="2F55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クリエイター基盤・勝ちCRデータ・制作ナレッジ。この3点が揃うのは当社ならではの強みです。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22580" y="2032987"/>
            <a:ext cx="3520440" cy="36576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why_users.png" id="372" name="Google Shape;3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880" y="2398747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/>
          <p:nvPr/>
        </p:nvSpPr>
        <p:spPr>
          <a:xfrm>
            <a:off x="705460" y="3541747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優良かつ豊富な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クリエイタープール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815188" y="4318987"/>
            <a:ext cx="293522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UUUM ONEに登録する数万規模のクリエイター。撮影のみの依頼でも、目的に合う人材を必要な数だけ即アサインできます。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796900" y="5187667"/>
            <a:ext cx="2971800" cy="347472"/>
          </a:xfrm>
          <a:prstGeom prst="roundRect">
            <a:avLst>
              <a:gd fmla="val 50000" name="adj"/>
            </a:avLst>
          </a:prstGeom>
          <a:solidFill>
            <a:srgbClr val="EAF4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796900" y="5187667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96D9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196D9"/>
                </a:solidFill>
                <a:latin typeface="Arial"/>
                <a:ea typeface="Arial"/>
                <a:cs typeface="Arial"/>
                <a:sym typeface="Arial"/>
              </a:rPr>
              <a:t>UUUM ONE 登録クリエイター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4335628" y="2032987"/>
            <a:ext cx="3520440" cy="36576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why_chart.png" id="378" name="Google Shape;3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928" y="2398747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6"/>
          <p:cNvSpPr/>
          <p:nvPr/>
        </p:nvSpPr>
        <p:spPr>
          <a:xfrm>
            <a:off x="4518508" y="3541747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“広告で勝つUGC CR”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のデータ量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628236" y="4318987"/>
            <a:ext cx="293522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タテ型ショート動画領域で積み上げた大量の配信実績。どの構成・訴求が伸びるかの知見を、台本とAIの学習に還元します。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4609948" y="5187667"/>
            <a:ext cx="2971800" cy="347472"/>
          </a:xfrm>
          <a:prstGeom prst="roundRect">
            <a:avLst>
              <a:gd fmla="val 50000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4609948" y="5187667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タテ型ショート × 配信データ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8148676" y="2032987"/>
            <a:ext cx="3520440" cy="36576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why_brain.png" id="384" name="Google Shape;38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5976" y="2398747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6"/>
          <p:cNvSpPr/>
          <p:nvPr/>
        </p:nvSpPr>
        <p:spPr>
          <a:xfrm>
            <a:off x="8331556" y="3541747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コンテンツ制作の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ナレッジ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8441284" y="4318987"/>
            <a:ext cx="293522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数万件規模のタイアップ実績で培った企画・構成・コンプラ対応のノウハウ。AIだけに頼らず“勝てる広告”を設計します。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8422996" y="5187667"/>
            <a:ext cx="2971800" cy="347472"/>
          </a:xfrm>
          <a:prstGeom prst="roundRect">
            <a:avLst>
              <a:gd fmla="val 50000" name="adj"/>
            </a:avLst>
          </a:prstGeom>
          <a:solidFill>
            <a:srgbClr val="ECF7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8422996" y="5187667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企画・構成・コンプラ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クリエイター基盤からAI生成まで一気通貫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457200" y="1828800"/>
            <a:ext cx="3383280" cy="3931920"/>
          </a:xfrm>
          <a:prstGeom prst="roundRect">
            <a:avLst>
              <a:gd fmla="val 3243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users.png" id="398" name="Google Shape;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080" y="21031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7"/>
          <p:cNvSpPr/>
          <p:nvPr/>
        </p:nvSpPr>
        <p:spPr>
          <a:xfrm>
            <a:off x="457200" y="28803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UUUM ONE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57200" y="327355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クリエイター供給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777240" y="3703320"/>
            <a:ext cx="2834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数万規模のクリエイター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撮影のみで低コスト起用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ジャンル横断で即アサイン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3950208" y="3566160"/>
            <a:ext cx="457200" cy="502920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526280" y="1828800"/>
            <a:ext cx="3154680" cy="3931920"/>
          </a:xfrm>
          <a:prstGeom prst="roundRect">
            <a:avLst>
              <a:gd fmla="val 3478" name="adj"/>
            </a:avLst>
          </a:prstGeom>
          <a:solidFill>
            <a:srgbClr val="00B0F0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robot_white.png" id="404" name="Google Shape;4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21488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7"/>
          <p:cNvSpPr/>
          <p:nvPr/>
        </p:nvSpPr>
        <p:spPr>
          <a:xfrm>
            <a:off x="4526280" y="297180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 Creative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526280" y="342900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F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FE3F2"/>
                </a:solidFill>
                <a:latin typeface="Arial"/>
                <a:ea typeface="Arial"/>
                <a:cs typeface="Arial"/>
                <a:sym typeface="Arial"/>
              </a:rPr>
              <a:t>AIクリエイティブ生成エンジン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4892040" y="388620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自動編集・組合せ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AIナレーション付与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勝ちCRデータを学習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7790688" y="3566160"/>
            <a:ext cx="457200" cy="502920"/>
          </a:xfrm>
          <a:prstGeom prst="chevron">
            <a:avLst>
              <a:gd fmla="val 50000" name="adj"/>
            </a:avLst>
          </a:prstGeom>
          <a:solidFill>
            <a:srgbClr val="019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8366760" y="1828800"/>
            <a:ext cx="3364992" cy="3931920"/>
          </a:xfrm>
          <a:prstGeom prst="roundRect">
            <a:avLst>
              <a:gd fmla="val 3261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_chart.png" id="410" name="Google Shape;4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8360" y="21031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7"/>
          <p:cNvSpPr/>
          <p:nvPr/>
        </p:nvSpPr>
        <p:spPr>
          <a:xfrm>
            <a:off x="8366760" y="2880360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広告主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8366760" y="3273552"/>
            <a:ext cx="3364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クリエイティブ需要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8686800" y="3703320"/>
            <a:ext cx="2834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数十本を短納期で入手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UGCネイティブで“見られる”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勝ちパターンをデータで特定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クリエイターの supply（UUUM ONE）と、クリエイティブの demand（広告主）を垂直統合でつなぎます。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他サービスとの比較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クリエイティブの「量産力 × 質 × データ活用」を同時に満たすことが可能。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4" name="Google Shape;424;p18"/>
          <p:cNvGraphicFramePr/>
          <p:nvPr/>
        </p:nvGraphicFramePr>
        <p:xfrm>
          <a:off x="45720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{3CADEA03-3656-4C9D-8DFB-590A2CAE0677}</a:tableStyleId>
              </a:tblPr>
              <a:tblGrid>
                <a:gridCol w="2743200"/>
                <a:gridCol w="2130550"/>
                <a:gridCol w="2286000"/>
                <a:gridCol w="1828800"/>
                <a:gridCol w="2286000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一般的な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動画制作会社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インフルエンサー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プラットフォーム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AI動画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生成ツール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Creative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96D9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745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クリエイティブ量産力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FA8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A6F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AIで数十本を一括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745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UGCの自然さ・質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FA8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A6F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実在クリエイター撮影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745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勝ちCRデータの活用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FA8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A6F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配信実績を学習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745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制作スピード / コスト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FA8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A6F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撮影のみ＋AI編集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745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7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コンプラ / 品質管理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×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FA8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A6F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◎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575A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4F57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企画段階でチェック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425" name="Google Shape;425;p18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.png" id="426" name="Google Shape;4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201168"/>
            <a:ext cx="932688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/>
          <p:nvPr/>
        </p:nvSpPr>
        <p:spPr>
          <a:xfrm>
            <a:off x="8732520" y="841248"/>
            <a:ext cx="2971800" cy="384048"/>
          </a:xfrm>
          <a:prstGeom prst="roundRect">
            <a:avLst>
              <a:gd fmla="val 19048" name="adj"/>
            </a:avLst>
          </a:prstGeom>
          <a:solidFill>
            <a:srgbClr val="E500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8732520" y="841248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投影限定（配布はお控えください）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D7E7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457200" y="1645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価格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522580" y="1783080"/>
            <a:ext cx="3520440" cy="329184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522580" y="201168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Light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522580" y="249631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テスト導入向け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1071220" y="2898648"/>
            <a:ext cx="2423160" cy="10973"/>
          </a:xfrm>
          <a:prstGeom prst="rect">
            <a:avLst/>
          </a:prstGeom>
          <a:solidFill>
            <a:srgbClr val="DCE6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22580" y="306324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クリエイティブ </a:t>
            </a:r>
            <a:r>
              <a:rPr b="1" lang="en-US" sz="17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12本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22580" y="361188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100万円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522580" y="42519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（広告配信費 / 税別）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22580" y="45720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クリエイティブ制作費は無償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4335628" y="1645920"/>
            <a:ext cx="3520440" cy="3429000"/>
          </a:xfrm>
          <a:prstGeom prst="roundRect">
            <a:avLst>
              <a:gd fmla="val 3200" name="adj"/>
            </a:avLst>
          </a:prstGeom>
          <a:solidFill>
            <a:srgbClr val="212745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5181448" y="1399032"/>
            <a:ext cx="1828800" cy="384048"/>
          </a:xfrm>
          <a:prstGeom prst="roundRect">
            <a:avLst>
              <a:gd fmla="val 50000" name="adj"/>
            </a:avLst>
          </a:prstGeom>
          <a:solidFill>
            <a:srgbClr val="E500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181448" y="139903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lang="en-US" sz="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推奨</a:t>
            </a:r>
            <a:endParaRPr sz="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4335628" y="201168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335628" y="249631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F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FE3F2"/>
                </a:solidFill>
                <a:latin typeface="Arial"/>
                <a:ea typeface="Arial"/>
                <a:cs typeface="Arial"/>
                <a:sym typeface="Arial"/>
              </a:rPr>
              <a:t>最も選ばれるプラン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4884268" y="2898648"/>
            <a:ext cx="2423160" cy="10973"/>
          </a:xfrm>
          <a:prstGeom prst="rect">
            <a:avLst/>
          </a:prstGeom>
          <a:solidFill>
            <a:srgbClr val="3A41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4335628" y="306324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F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FE3F2"/>
                </a:solidFill>
                <a:latin typeface="Arial"/>
                <a:ea typeface="Arial"/>
                <a:cs typeface="Arial"/>
                <a:sym typeface="Arial"/>
              </a:rPr>
              <a:t>クリエイティブ </a:t>
            </a: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18本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4335628" y="361188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200万円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4335628" y="42519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F2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CFE3F2"/>
                </a:solidFill>
                <a:latin typeface="Arial"/>
                <a:ea typeface="Arial"/>
                <a:cs typeface="Arial"/>
                <a:sym typeface="Arial"/>
              </a:rPr>
              <a:t>（広告配信費 / 税別）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4335628" y="45720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7C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FE7C6"/>
                </a:solidFill>
                <a:latin typeface="Arial"/>
                <a:ea typeface="Arial"/>
                <a:cs typeface="Arial"/>
                <a:sym typeface="Arial"/>
              </a:rPr>
              <a:t>クリエイティブ制作費は無償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8148676" y="1783080"/>
            <a:ext cx="3520440" cy="329184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A2A38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8148676" y="201168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8148676" y="249631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大規模A/B検証向け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8697316" y="2898648"/>
            <a:ext cx="2423160" cy="10973"/>
          </a:xfrm>
          <a:prstGeom prst="rect">
            <a:avLst/>
          </a:prstGeom>
          <a:solidFill>
            <a:srgbClr val="DCE6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8148676" y="306324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クリエイティブ </a:t>
            </a:r>
            <a:r>
              <a:rPr b="1" lang="en-US" sz="17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36本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8148676" y="361188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FA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A6FA8"/>
                </a:solidFill>
                <a:latin typeface="Arial"/>
                <a:ea typeface="Arial"/>
                <a:cs typeface="Arial"/>
                <a:sym typeface="Arial"/>
              </a:rPr>
              <a:t>350万円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8148676" y="42519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（広告配信費 / 税別）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8148676" y="45720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E9E5B"/>
                </a:solidFill>
                <a:latin typeface="Arial"/>
                <a:ea typeface="Arial"/>
                <a:cs typeface="Arial"/>
                <a:sym typeface="Arial"/>
              </a:rPr>
              <a:t>クリエイティブ制作費は無償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fmla="val 11765" name="adj"/>
            </a:avLst>
          </a:prstGeom>
          <a:solidFill>
            <a:srgbClr val="EAF4FB"/>
          </a:solidFill>
          <a:ln cap="flat" cmpd="sng" w="12700">
            <a:solidFill>
              <a:srgbClr val="DC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従来相場なら </a:t>
            </a:r>
            <a:r>
              <a:rPr lang="en-US" sz="1600">
                <a:solidFill>
                  <a:srgbClr val="212745"/>
                </a:solidFill>
                <a:latin typeface="Arial"/>
                <a:ea typeface="Arial"/>
                <a:cs typeface="Arial"/>
                <a:sym typeface="Arial"/>
              </a:rPr>
              <a:t>18本 × 20万円 = 360万円</a:t>
            </a:r>
            <a:r>
              <a:rPr lang="en-US" sz="160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 相当の制作物を、配信費のご負担のみでご提供します。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1612880" y="651052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69C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8A969C"/>
                </a:solidFill>
                <a:latin typeface="Arial"/>
                <a:ea typeface="Arial"/>
                <a:cs typeface="Arial"/>
                <a:sym typeface="Arial"/>
              </a:rPr>
              <a:t>※価格は税別・代理店様ネット金額です。配信費・本数は個別にご調整いただけます。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assets/uuum_logo.png" id="466" name="Google Shape;4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0" y="201168"/>
            <a:ext cx="932688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9"/>
          <p:cNvSpPr/>
          <p:nvPr/>
        </p:nvSpPr>
        <p:spPr>
          <a:xfrm>
            <a:off x="475488" y="749808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575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F575A"/>
                </a:solidFill>
                <a:latin typeface="Arial"/>
                <a:ea typeface="Arial"/>
                <a:cs typeface="Arial"/>
                <a:sym typeface="Arial"/>
              </a:rPr>
              <a:t>ご予算と検証規模に合わせて選べる3プラン。標準プランは制作費 実質無償で、配信費のみのご負担です。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6D9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c_infinity.png" id="473" name="Google Shape;4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3899" y="1085451"/>
            <a:ext cx="1943899" cy="194389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0"/>
          <p:cNvSpPr/>
          <p:nvPr/>
        </p:nvSpPr>
        <p:spPr>
          <a:xfrm>
            <a:off x="640080" y="28346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クリエイティブを“無限”に、もっと自由に。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295248" y="372618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UUUMマーケティングのクリエイター基盤とAIが生み出す、新しい広告クリエイティブの量産パッケージ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uuum_logo_white.png" id="476" name="Google Shape;4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608" y="5029200"/>
            <a:ext cx="1554480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0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お問い合わせ：UUUMマーケティング株式会社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